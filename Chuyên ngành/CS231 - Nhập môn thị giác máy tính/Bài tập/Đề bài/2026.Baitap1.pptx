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1" r:id="rId7"/>
    <p:sldId id="264" r:id="rId8"/>
  </p:sldIdLst>
  <p:sldSz cx="12192000" cy="6858000"/>
  <p:notesSz cx="6858000" cy="9144000"/>
  <p:custDataLst>
    <p:tags r:id="rId10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94694"/>
  </p:normalViewPr>
  <p:slideViewPr>
    <p:cSldViewPr snapToGrid="0">
      <p:cViewPr varScale="1">
        <p:scale>
          <a:sx n="58" d="100"/>
          <a:sy n="58" d="100"/>
        </p:scale>
        <p:origin x="13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02/27/2026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February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February 27,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February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February 27,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1 - 2026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err="1"/>
              <a:t>ảnh</a:t>
            </a:r>
            <a:r>
              <a:rPr lang="en-US"/>
              <a:t> sử dụng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err="1"/>
              <a:t>toán</a:t>
            </a:r>
            <a:r>
              <a:rPr lang="en-US"/>
              <a:t> KNN </a:t>
            </a:r>
            <a:br>
              <a:rPr lang="en-US"/>
            </a:br>
            <a:r>
              <a:rPr lang="en-US"/>
              <a:t>và các đặc trưng màu sắc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Cho </a:t>
            </a:r>
            <a:r>
              <a:rPr lang="en-US" dirty="0" err="1"/>
              <a:t>trước</a:t>
            </a:r>
            <a:r>
              <a:rPr lang="en-US" dirty="0"/>
              <a:t> 1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HoaVietNam</a:t>
            </a:r>
            <a:r>
              <a:rPr lang="en-US" dirty="0"/>
              <a:t> </a:t>
            </a:r>
            <a:r>
              <a:rPr lang="en-US" err="1"/>
              <a:t>chứa</a:t>
            </a:r>
            <a:r>
              <a:rPr lang="en-US"/>
              <a:t> 07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:</a:t>
            </a:r>
          </a:p>
          <a:p>
            <a:r>
              <a:rPr lang="en-US" dirty="0" err="1"/>
              <a:t>Cuc</a:t>
            </a:r>
            <a:r>
              <a:rPr lang="en-US" dirty="0"/>
              <a:t>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Cúc</a:t>
            </a:r>
            <a:endParaRPr lang="en-US" dirty="0"/>
          </a:p>
          <a:p>
            <a:r>
              <a:rPr lang="en-US" dirty="0"/>
              <a:t>Dao: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err="1"/>
              <a:t>Đào</a:t>
            </a:r>
            <a:r>
              <a:rPr lang="en-US"/>
              <a:t> </a:t>
            </a:r>
          </a:p>
          <a:p>
            <a:r>
              <a:rPr lang="en-US"/>
              <a:t>Ga: Tên loài hoa Mào Gà</a:t>
            </a:r>
            <a:endParaRPr lang="en-US" dirty="0"/>
          </a:p>
          <a:p>
            <a:r>
              <a:rPr lang="en-US" dirty="0"/>
              <a:t>Lan: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lan</a:t>
            </a:r>
            <a:endParaRPr lang="en-US" dirty="0"/>
          </a:p>
          <a:p>
            <a:r>
              <a:rPr lang="en-US" dirty="0"/>
              <a:t>Mai: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err="1"/>
              <a:t>hoa</a:t>
            </a:r>
            <a:r>
              <a:rPr lang="en-US"/>
              <a:t> Mai</a:t>
            </a:r>
          </a:p>
          <a:p>
            <a:r>
              <a:rPr lang="en-US"/>
              <a:t>Sen: Tên loài hoa Sen</a:t>
            </a:r>
            <a:endParaRPr lang="en-US" dirty="0"/>
          </a:p>
          <a:p>
            <a:r>
              <a:rPr lang="en-US" dirty="0" err="1"/>
              <a:t>Tho</a:t>
            </a:r>
            <a:r>
              <a:rPr lang="en-US" dirty="0"/>
              <a:t>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Vạn</a:t>
            </a:r>
            <a:r>
              <a:rPr lang="en-US" dirty="0"/>
              <a:t> </a:t>
            </a:r>
            <a:r>
              <a:rPr lang="en-US" dirty="0" err="1"/>
              <a:t>thọ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tổ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như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:</a:t>
            </a:r>
          </a:p>
          <a:p>
            <a:r>
              <a:rPr lang="en-US" dirty="0"/>
              <a:t>train: </a:t>
            </a:r>
            <a:r>
              <a:rPr lang="en-US" err="1"/>
              <a:t>chứa</a:t>
            </a:r>
            <a:r>
              <a:rPr lang="en-US"/>
              <a:t> 07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err="1"/>
              <a:t>với</a:t>
            </a:r>
            <a:r>
              <a:rPr lang="en-US"/>
              <a:t> 07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err="1"/>
              <a:t>có</a:t>
            </a:r>
            <a:r>
              <a:rPr lang="en-US"/>
              <a:t> các </a:t>
            </a:r>
            <a:r>
              <a:rPr lang="en-US" dirty="0" err="1"/>
              <a:t>ảnh</a:t>
            </a:r>
            <a:r>
              <a:rPr lang="en-US" dirty="0"/>
              <a:t> *.jpg</a:t>
            </a:r>
          </a:p>
          <a:p>
            <a:r>
              <a:rPr lang="en-US" dirty="0"/>
              <a:t>test: </a:t>
            </a:r>
            <a:r>
              <a:rPr lang="en-US" err="1"/>
              <a:t>chứa</a:t>
            </a:r>
            <a:r>
              <a:rPr lang="en-US"/>
              <a:t> 07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err="1"/>
              <a:t>với</a:t>
            </a:r>
            <a:r>
              <a:rPr lang="en-US"/>
              <a:t> 07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err="1"/>
              <a:t>có</a:t>
            </a:r>
            <a:r>
              <a:rPr lang="en-US"/>
              <a:t> các </a:t>
            </a:r>
            <a:r>
              <a:rPr lang="en-US" dirty="0" err="1"/>
              <a:t>ảnh</a:t>
            </a:r>
            <a:r>
              <a:rPr lang="en-US" dirty="0"/>
              <a:t> *.jpg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en-US"/>
              <a:t>Áp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b="1" err="1">
                <a:solidFill>
                  <a:srgbClr val="FF0000"/>
                </a:solidFill>
              </a:rPr>
              <a:t>KNeighborsClassifier</a:t>
            </a:r>
            <a:r>
              <a:rPr lang="en-US"/>
              <a:t> để thực hiện phân loại. Hãy </a:t>
            </a:r>
            <a:r>
              <a:rPr lang="en-US" b="1">
                <a:solidFill>
                  <a:srgbClr val="FF0000"/>
                </a:solidFill>
              </a:rPr>
              <a:t>xác định giá </a:t>
            </a:r>
            <a:r>
              <a:rPr lang="en-US" b="1" err="1">
                <a:solidFill>
                  <a:srgbClr val="FF0000"/>
                </a:solidFill>
              </a:rPr>
              <a:t>trị</a:t>
            </a:r>
            <a:r>
              <a:rPr lang="en-US" b="1">
                <a:solidFill>
                  <a:srgbClr val="FF0000"/>
                </a:solidFill>
              </a:rPr>
              <a:t> của các tham số </a:t>
            </a:r>
            <a:r>
              <a:rPr lang="en-US"/>
              <a:t>sao cho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err="1"/>
              <a:t>cao</a:t>
            </a:r>
            <a:r>
              <a:rPr lang="en-US"/>
              <a:t> nhất:</a:t>
            </a:r>
            <a:endParaRPr lang="en-US" dirty="0"/>
          </a:p>
          <a:p>
            <a:pPr algn="l"/>
            <a:r>
              <a:rPr lang="en-US" sz="3000"/>
              <a:t>n_neighbors: 1 - 10</a:t>
            </a:r>
          </a:p>
          <a:p>
            <a:pPr algn="l"/>
            <a:r>
              <a:rPr lang="en-US" sz="3000"/>
              <a:t>weights</a:t>
            </a:r>
            <a:r>
              <a:rPr lang="en-US" sz="3000" dirty="0"/>
              <a:t>: {‘uniform’, ‘</a:t>
            </a:r>
            <a:r>
              <a:rPr lang="en-US" sz="3000"/>
              <a:t>distance’}</a:t>
            </a:r>
          </a:p>
          <a:p>
            <a:pPr algn="l"/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metric_options = [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'braycurtis'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'canberra'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'correlation'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'cosine'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'euclidean'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'minkowski'</a:t>
            </a:r>
            <a:r>
              <a:rPr lang="en-US" sz="3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algn="l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4FCFA-5D46-8C6D-D673-CA1F65AF800C}"/>
              </a:ext>
            </a:extLst>
          </p:cNvPr>
          <p:cNvSpPr txBox="1"/>
          <p:nvPr/>
        </p:nvSpPr>
        <p:spPr>
          <a:xfrm>
            <a:off x="664466" y="5961519"/>
            <a:ext cx="111321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https://scikit-learn.org/stable/modules/generated/sklearn.neighbors.KNeighborsClassifier.html</a:t>
            </a:r>
          </a:p>
        </p:txBody>
      </p:sp>
    </p:spTree>
    <p:extLst>
      <p:ext uri="{BB962C8B-B14F-4D97-AF65-F5344CB8AC3E}">
        <p14:creationId xmlns:p14="http://schemas.microsoft.com/office/powerpoint/2010/main" val="63432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AAF7-5947-3404-BE84-AB3B8768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A8CA-CA9D-03F1-AB70-C788DB207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DA0B-9D80-B5C2-FE17-068CB332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Sử dụng đặc trưng về màu sắc:</a:t>
            </a:r>
          </a:p>
          <a:p>
            <a:pPr lvl="1" algn="l"/>
            <a:r>
              <a:rPr lang="en-US"/>
              <a:t>Histogram với 3 thành phần màu RGB</a:t>
            </a:r>
          </a:p>
          <a:p>
            <a:pPr lvl="1" algn="l"/>
            <a:r>
              <a:rPr lang="en-US"/>
              <a:t>Sử dụng 256 bin cho mỗi thành phần màu</a:t>
            </a:r>
          </a:p>
          <a:p>
            <a:pPr lvl="1" algn="l"/>
            <a:r>
              <a:rPr lang="en-US"/>
              <a:t>Tính histogram riêng từng thành phần</a:t>
            </a:r>
          </a:p>
          <a:p>
            <a:pPr lvl="1"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87F63-B066-248C-6554-75A3D3F8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DD549-E9C0-0E94-F8E8-B10B9553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69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6F8B-983B-F27A-95DB-3AFAC85B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2A5F-E8BB-21C1-10F2-BB1BC3A2E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A550-522F-30D5-EF3C-ADFF708B0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Từ các giá trị tham số tối ưu. Hãy thực nghiệm so sánh độ chính xác khi sử dụng đặc trưng về màu sắc:</a:t>
            </a:r>
          </a:p>
          <a:p>
            <a:pPr lvl="1" algn="l"/>
            <a:r>
              <a:rPr lang="en-US"/>
              <a:t>Histogram với 3 thành phần màu HSV tương ứng 8x8x8</a:t>
            </a:r>
          </a:p>
          <a:p>
            <a:pPr lvl="1" algn="l"/>
            <a:r>
              <a:rPr lang="en-US"/>
              <a:t>Moment màu</a:t>
            </a:r>
          </a:p>
          <a:p>
            <a:pPr lvl="1" algn="l"/>
            <a:r>
              <a:rPr lang="en-US"/>
              <a:t>Màu chủ đạo</a:t>
            </a:r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75D7F-918E-979C-8BC7-0B7BDB1E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DF571-569F-42B8-059C-4A5153A7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8577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ABC4-816E-EBFF-EB8E-873E1901B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8BE8-E2D2-565C-1450-D9D0577D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Yêu</a:t>
            </a:r>
            <a:r>
              <a:rPr lang="en-US"/>
              <a:t> cầu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C5520-C25C-3678-9876-90B46471D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/>
              <a:t>Sử dụng các giá trị tham tối ưu như trong yêu cầu 1. </a:t>
            </a:r>
          </a:p>
          <a:p>
            <a:pPr lvl="1" algn="l"/>
            <a:r>
              <a:rPr lang="en-US"/>
              <a:t>Giả sử gọi A là trường hợp sử dụng: Histogram với 3 thành phần màu RGB</a:t>
            </a:r>
          </a:p>
          <a:p>
            <a:pPr lvl="1" algn="l"/>
            <a:r>
              <a:rPr lang="en-US"/>
              <a:t>Giả sử gọi B là trường hợp sử dụng: Histogram với 3 thành phần màu HSV tương ứng 16x16x16</a:t>
            </a:r>
          </a:p>
          <a:p>
            <a:pPr algn="l"/>
            <a:r>
              <a:rPr lang="en-US"/>
              <a:t>Hãy in ra danh sách các ảnh trong tập test mà trong trường hợp:</a:t>
            </a:r>
          </a:p>
          <a:p>
            <a:pPr lvl="1" algn="l"/>
            <a:r>
              <a:rPr lang="en-US"/>
              <a:t>A: sai nhưng B: đúng </a:t>
            </a:r>
            <a:r>
              <a:rPr lang="en-US">
                <a:sym typeface="Wingdings" panose="05000000000000000000" pitchFamily="2" charset="2"/>
              </a:rPr>
              <a:t> minh họa ưu điểm của B</a:t>
            </a:r>
            <a:endParaRPr lang="en-US"/>
          </a:p>
          <a:p>
            <a:pPr lvl="1" algn="l"/>
            <a:r>
              <a:rPr lang="en-US"/>
              <a:t>A: đúng nhưng B: sai  </a:t>
            </a:r>
            <a:r>
              <a:rPr lang="en-US">
                <a:sym typeface="Wingdings" panose="05000000000000000000" pitchFamily="2" charset="2"/>
              </a:rPr>
              <a:t> minh họa ưu điểm của A</a:t>
            </a:r>
          </a:p>
          <a:p>
            <a:pPr lvl="1" algn="l"/>
            <a:r>
              <a:rPr lang="en-US"/>
              <a:t>A: sai và B: sai  </a:t>
            </a:r>
            <a:r>
              <a:rPr lang="en-US">
                <a:sym typeface="Wingdings" panose="05000000000000000000" pitchFamily="2" charset="2"/>
              </a:rPr>
              <a:t> minh họa những mẫu khó</a:t>
            </a:r>
            <a:endParaRPr lang="en-US"/>
          </a:p>
          <a:p>
            <a:pPr lvl="1" algn="l"/>
            <a:endParaRPr lang="en-US"/>
          </a:p>
          <a:p>
            <a:pPr lvl="1" algn="l"/>
            <a:endParaRPr lang="en-US"/>
          </a:p>
          <a:p>
            <a:pPr lvl="1" algn="l"/>
            <a:endParaRPr lang="en-US"/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9A796-9048-D5E1-17BB-3D1D5BAF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1898B-405D-25D4-F160-4435979C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7047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EE95-44E2-7B54-F40C-2404A11E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FF0000"/>
                </a:solidFill>
              </a:rPr>
              <a:t>Lưu 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F1DA-E25B-D749-CC1A-D19F23C9D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Sinh viên nộp bài cũ: 0 điểm</a:t>
            </a:r>
          </a:p>
          <a:p>
            <a:r>
              <a:rPr lang="en-US"/>
              <a:t>Sinh viên nộp bài của bạn: 0 điểm</a:t>
            </a:r>
          </a:p>
          <a:p>
            <a:r>
              <a:rPr lang="en-US"/>
              <a:t>----------------------</a:t>
            </a:r>
          </a:p>
          <a:p>
            <a:r>
              <a:rPr lang="en-US"/>
              <a:t>Nên nộp file thực thi trên Google Colab để có lưu trữ kết quả thực hiện.</a:t>
            </a:r>
          </a:p>
          <a:p>
            <a:r>
              <a:rPr lang="en-US"/>
              <a:t>Trong file phải có thông tin sinh viên thực hiện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45A2E-2757-4C24-BD13-2650907A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1F769-101A-155A-D567-ABF279A0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165065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546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Consolas</vt:lpstr>
      <vt:lpstr>Tahoma</vt:lpstr>
      <vt:lpstr>Times New Roman</vt:lpstr>
      <vt:lpstr>Wingdings</vt:lpstr>
      <vt:lpstr>Office Theme</vt:lpstr>
      <vt:lpstr>PowerPoint Presentation</vt:lpstr>
      <vt:lpstr>Mô tả</vt:lpstr>
      <vt:lpstr>Yêu cầu 1</vt:lpstr>
      <vt:lpstr>Yêu cầu 1</vt:lpstr>
      <vt:lpstr>Yêu cầu 2</vt:lpstr>
      <vt:lpstr>Yêu cầu 3</vt:lpstr>
      <vt:lpstr>Lưu 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151</cp:revision>
  <dcterms:created xsi:type="dcterms:W3CDTF">2023-03-03T01:55:04Z</dcterms:created>
  <dcterms:modified xsi:type="dcterms:W3CDTF">2026-02-27T02:06:30Z</dcterms:modified>
</cp:coreProperties>
</file>