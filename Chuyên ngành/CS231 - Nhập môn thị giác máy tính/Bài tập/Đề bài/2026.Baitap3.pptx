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482" r:id="rId4"/>
    <p:sldId id="483" r:id="rId5"/>
    <p:sldId id="484" r:id="rId6"/>
  </p:sldIdLst>
  <p:sldSz cx="12192000" cy="6858000"/>
  <p:notesSz cx="6858000" cy="9144000"/>
  <p:custDataLst>
    <p:tags r:id="rId8"/>
  </p:custDataLst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FF"/>
    <a:srgbClr val="114F91"/>
    <a:srgbClr val="00F7FF"/>
    <a:srgbClr val="00C6FF"/>
    <a:srgbClr val="376DB5"/>
    <a:srgbClr val="1CB5E0"/>
    <a:srgbClr val="000046"/>
    <a:srgbClr val="0A4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61"/>
    <p:restoredTop sz="94694"/>
  </p:normalViewPr>
  <p:slideViewPr>
    <p:cSldViewPr snapToGrid="0">
      <p:cViewPr varScale="1">
        <p:scale>
          <a:sx n="70" d="100"/>
          <a:sy n="70" d="100"/>
        </p:scale>
        <p:origin x="8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04/19/2026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64466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solidFill>
                  <a:schemeClr val="accent3">
                    <a:lumMod val="75000"/>
                  </a:schemeClr>
                </a:solidFill>
                <a:effectLst>
                  <a:innerShdw blurRad="114300">
                    <a:schemeClr val="bg1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58953" y="5005949"/>
            <a:ext cx="3637025" cy="345005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ctr">
            <a:noAutofit/>
          </a:bodyPr>
          <a:lstStyle>
            <a:lvl1pPr marL="0" indent="0" algn="ctr">
              <a:buNone/>
              <a:defRPr sz="1800" b="1" i="0">
                <a:solidFill>
                  <a:srgbClr val="114F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April 19,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April 19,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April 19, 2026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April 19,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438835"/>
            <a:ext cx="10579654" cy="4738128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 userDrawn="1"/>
        </p:nvCxnSpPr>
        <p:spPr>
          <a:xfrm>
            <a:off x="774145" y="1116106"/>
            <a:ext cx="11304699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19, 2026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April 19,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April 19, 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u="none" kern="1200">
          <a:solidFill>
            <a:srgbClr val="114F91"/>
          </a:solidFill>
          <a:effectLst>
            <a:innerShdw blurRad="114300">
              <a:schemeClr val="bg1"/>
            </a:innerShdw>
          </a:effectLst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cative.io/blog/lenet-5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0CF62-78A4-D655-7614-720D3253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6B99-F7D5-FAD0-EDA1-03EE73F7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8B0B3AC-44A8-D142-AAF6-9A453466E1A4}" type="slidenum">
              <a:rPr lang="en-VN" smtClean="0"/>
              <a:pPr algn="ctr"/>
              <a:t>1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712B-B28A-B256-C343-718E2E83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CS231.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7B1EB-02CD-733F-59FE-6D1CE2E4D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7334" y="3725412"/>
            <a:ext cx="10438019" cy="45944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err="1"/>
              <a:t>hành</a:t>
            </a:r>
            <a:r>
              <a:rPr lang="en-US"/>
              <a:t> 3 - 2026</a:t>
            </a:r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err="1"/>
              <a:t>ảnh</a:t>
            </a:r>
            <a:r>
              <a:rPr lang="en-US"/>
              <a:t> sử dụng Mạng tích chập </a:t>
            </a:r>
            <a:endParaRPr lang="en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1E838D-0A6A-9FC0-FE43-B7160A7D09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718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Sử dụng tập dữ liệu HoaVietNam2026</a:t>
            </a:r>
          </a:p>
          <a:p>
            <a:pPr lvl="1"/>
            <a:r>
              <a:rPr lang="en-US"/>
              <a:t>Tập train: chia thành 2 tập mới là train và val theo tỉ lệ 8:2</a:t>
            </a:r>
          </a:p>
          <a:p>
            <a:pPr lvl="1"/>
            <a:r>
              <a:rPr lang="en-US"/>
              <a:t>Tập test: vẫn giữ nguyên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06419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5D28-DB14-E20F-E275-1E4D4AF6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4082-27E2-627A-6D56-3FEA2326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Dựa trên kiến trúc của mạng LeNet-5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FE07C-6362-D9C3-EC3B-9BD14E2E8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Dựa trên kiến trục mạng LeNet-5 với các tham số mới: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857D3-7728-7D11-FBDC-C1081488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3500F-018A-48CB-BEFC-65BB36720E9A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21696-68E7-2D60-317C-964F8AB3A770}"/>
              </a:ext>
            </a:extLst>
          </p:cNvPr>
          <p:cNvSpPr txBox="1"/>
          <p:nvPr/>
        </p:nvSpPr>
        <p:spPr>
          <a:xfrm>
            <a:off x="5123101" y="6323692"/>
            <a:ext cx="6791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Tham </a:t>
            </a:r>
            <a:r>
              <a:rPr lang="en-GB" err="1"/>
              <a:t>khảo</a:t>
            </a:r>
            <a:r>
              <a:rPr lang="en-GB"/>
              <a:t> </a:t>
            </a:r>
            <a:r>
              <a:rPr lang="en-GB" err="1"/>
              <a:t>thêm</a:t>
            </a:r>
            <a:r>
              <a:rPr lang="en-GB"/>
              <a:t>: </a:t>
            </a:r>
            <a:r>
              <a:rPr lang="en-GB">
                <a:hlinkClick r:id="rId2"/>
              </a:rPr>
              <a:t>LeNet-5 — A complete guide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0D959-CC80-DE84-502B-C0A90265896A}"/>
              </a:ext>
            </a:extLst>
          </p:cNvPr>
          <p:cNvSpPr txBox="1"/>
          <p:nvPr/>
        </p:nvSpPr>
        <p:spPr>
          <a:xfrm>
            <a:off x="408022" y="2230264"/>
            <a:ext cx="11689479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= 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models.Sequential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endParaRPr lang="en-GB" sz="1600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(layers.Conv2D(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,(</a:t>
            </a:r>
            <a:r>
              <a:rPr lang="en-GB" sz="160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GB" sz="160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input_shape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128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,128, 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),padding=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'same’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(layers.MaxPooling2D((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</a:p>
          <a:p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(layers.Conv2D(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(</a:t>
            </a:r>
            <a:r>
              <a:rPr lang="en-GB" sz="160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60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'relu’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),padding=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'same’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(layers.MaxPooling2D((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</a:p>
          <a:p>
            <a:pPr>
              <a:buNone/>
            </a:pP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layers.Flatten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buNone/>
            </a:pP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layers.Dense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120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layers.Dense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84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layers.Dense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softmax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94844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6F75-0233-7B60-452B-E8155E7A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Yêu cầu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6119-0E99-D62B-7099-C1ED5071D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>
                <a:latin typeface="+mn-lt"/>
              </a:rPr>
              <a:t>Thực nghiệm với 3 optimizer: Adam, SGD và Lion để đánh giá optimizer nào phù hợp nhất.</a:t>
            </a:r>
          </a:p>
          <a:p>
            <a:r>
              <a:rPr lang="en-US" sz="3600">
                <a:latin typeface="+mn-lt"/>
              </a:rPr>
              <a:t>Các tham số khác cố định như sau:</a:t>
            </a:r>
          </a:p>
          <a:p>
            <a:pPr lvl="1"/>
            <a:r>
              <a:rPr lang="en-US" sz="3200">
                <a:latin typeface="+mn-lt"/>
              </a:rPr>
              <a:t>Learning_rate=0.00001</a:t>
            </a:r>
          </a:p>
          <a:p>
            <a:pPr lvl="1"/>
            <a:r>
              <a:rPr lang="en-US" sz="3200">
                <a:latin typeface="+mn-lt"/>
              </a:rPr>
              <a:t>loss: 'categorical_crossentropy’, </a:t>
            </a:r>
          </a:p>
          <a:p>
            <a:pPr lvl="1"/>
            <a:r>
              <a:rPr lang="en-US" sz="3200">
                <a:latin typeface="+mn-lt"/>
              </a:rPr>
              <a:t>metrics='accuracy’</a:t>
            </a:r>
            <a:r>
              <a:rPr lang="en-GB" sz="3200">
                <a:solidFill>
                  <a:srgbClr val="000000"/>
                </a:solidFill>
              </a:rPr>
              <a:t> </a:t>
            </a:r>
          </a:p>
          <a:p>
            <a:pPr lvl="1"/>
            <a:r>
              <a:rPr lang="en-GB" sz="3200">
                <a:solidFill>
                  <a:srgbClr val="000000"/>
                </a:solidFill>
              </a:rPr>
              <a:t>batch_size=8</a:t>
            </a:r>
            <a:endParaRPr lang="en-US" sz="3200"/>
          </a:p>
          <a:p>
            <a:pPr lvl="1"/>
            <a:r>
              <a:rPr lang="en-GB" sz="3200">
                <a:solidFill>
                  <a:srgbClr val="000000"/>
                </a:solidFill>
                <a:effectLst/>
                <a:latin typeface="+mn-lt"/>
              </a:rPr>
              <a:t>epochs=</a:t>
            </a:r>
            <a:r>
              <a:rPr lang="en-GB" sz="3200">
                <a:solidFill>
                  <a:srgbClr val="116644"/>
                </a:solidFill>
                <a:effectLst/>
                <a:latin typeface="+mn-lt"/>
              </a:rPr>
              <a:t>15</a:t>
            </a:r>
            <a:r>
              <a:rPr lang="en-GB" sz="3200">
                <a:solidFill>
                  <a:srgbClr val="000000"/>
                </a:solidFill>
                <a:effectLst/>
                <a:latin typeface="+mn-lt"/>
              </a:rPr>
              <a:t>, </a:t>
            </a:r>
          </a:p>
          <a:p>
            <a:r>
              <a:rPr lang="en-US"/>
              <a:t>Đánh giá kết quả của 3 mô hình trên tập Test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42FE7-5ABC-2E5C-F35E-8AD26BB0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EA5DD-5DFC-4371-83B2-473C8C4E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7298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0BD7-669A-9C69-C90F-52FF3B44C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Yêu cầu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50A7-076F-3B9F-19DF-AA7E9AB08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Với optimizer hiệu quả nhất trong Yêu cầu 1. Hãy thực hiện huấn luyện mô hình có sử dụng:</a:t>
            </a:r>
          </a:p>
          <a:p>
            <a:pPr lvl="1"/>
            <a:r>
              <a:rPr lang="en-US"/>
              <a:t>ReduceLROnPlateau</a:t>
            </a:r>
          </a:p>
          <a:p>
            <a:pPr lvl="1"/>
            <a:r>
              <a:rPr lang="en-US"/>
              <a:t>EarlyStopping</a:t>
            </a:r>
          </a:p>
          <a:p>
            <a:pPr lvl="1"/>
            <a:r>
              <a:rPr lang="en-US"/>
              <a:t>Hiển thị biểu đồ cho biết Độ chính xác và loss trong quá trình huấn luyện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FC19F-3395-5AE1-7994-4148A1BC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04D64-D389-F69B-B2E8-E7A3C8BF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6101663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76382&quot;&gt;&lt;property id=&quot;20148&quot; value=&quot;5&quot;/&gt;&lt;property id=&quot;20300&quot; value=&quot;Slide 2 - &amp;quot;Mô tả&amp;quot;&quot;/&gt;&lt;property id=&quot;20307&quot; value=&quot;257&quot;/&gt;&lt;/object&gt;&lt;object type=&quot;3&quot; unique_id=&quot;104092&quot;&gt;&lt;property id=&quot;20148&quot; value=&quot;5&quot;/&gt;&lt;property id=&quot;20300&quot; value=&quot;Slide 3 - &amp;quot;Yêu cầu&amp;quot;&quot;/&gt;&lt;property id=&quot;20307&quot; value=&quot;258&quot;/&gt;&lt;/object&gt;&lt;object type=&quot;3&quot; unique_id=&quot;104093&quot;&gt;&lt;property id=&quot;20148&quot; value=&quot;5&quot;/&gt;&lt;property id=&quot;20300&quot; value=&quot;Slide 4&quot;/&gt;&lt;property id=&quot;20307&quot; value=&quot;259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378</Words>
  <Application>Microsoft Office PowerPoint</Application>
  <PresentationFormat>Widescreen</PresentationFormat>
  <Paragraphs>45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Courier New</vt:lpstr>
      <vt:lpstr>Tahoma</vt:lpstr>
      <vt:lpstr>Times New Roman</vt:lpstr>
      <vt:lpstr>Office Theme</vt:lpstr>
      <vt:lpstr>PowerPoint Presentation</vt:lpstr>
      <vt:lpstr>Mô tả</vt:lpstr>
      <vt:lpstr>Dựa trên kiến trúc của mạng LeNet-5</vt:lpstr>
      <vt:lpstr>Yêu cầu 1:</vt:lpstr>
      <vt:lpstr>Yêu cầu 2: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Mai Tiến Dũng</cp:lastModifiedBy>
  <cp:revision>150</cp:revision>
  <dcterms:created xsi:type="dcterms:W3CDTF">2023-03-03T01:55:04Z</dcterms:created>
  <dcterms:modified xsi:type="dcterms:W3CDTF">2026-04-19T12:46:32Z</dcterms:modified>
</cp:coreProperties>
</file>