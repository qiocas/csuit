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71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24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472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201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5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233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356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293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4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49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67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35210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28C565D-A991-4381-AC37-76A58A4A1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37470" y="1507414"/>
            <a:ext cx="5471630" cy="3703320"/>
          </a:xfrm>
        </p:spPr>
        <p:txBody>
          <a:bodyPr anchor="ctr">
            <a:normAutofit/>
          </a:bodyPr>
          <a:lstStyle/>
          <a:p>
            <a:r>
              <a:rPr lang="vi-VN" sz="4200"/>
              <a:t>Lịch sử phát triển của Cơ sở dữ liệu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3256" y="1507414"/>
            <a:ext cx="2498086" cy="3703320"/>
          </a:xfrm>
          <a:ln w="57150">
            <a:noFill/>
          </a:ln>
        </p:spPr>
        <p:txBody>
          <a:bodyPr anchor="ctr">
            <a:normAutofit/>
          </a:bodyPr>
          <a:lstStyle/>
          <a:p>
            <a:pPr algn="r"/>
            <a:r>
              <a:rPr lang="en-US" sz="1700"/>
              <a:t>1960s → 2020+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180431-F4DE-415D-BCBB-9316423C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3642"/>
            <a:ext cx="8474200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ABD997-5EF9-4E9B-AFBB-F6DFAAF3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1193883" y="3337052"/>
            <a:ext cx="3703320" cy="4404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AB5EE6-A047-4B18-B998-D46DF3CC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5878019"/>
            <a:ext cx="8474200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3F09C6-4F57-4B05-9592-E253D8BC6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214" y="614407"/>
            <a:ext cx="8482004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C97474-5879-4DB5-B4F3-F0357104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31CBB7-4817-4B54-A7F9-0AE2D0C47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0271" y="457200"/>
            <a:ext cx="3758184" cy="9144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" name="Picture 2" descr="db_1960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77" y="1127313"/>
            <a:ext cx="4107281" cy="4803838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6BC321D-B05F-4857-8880-97F61B9B7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0843" y="601200"/>
            <a:ext cx="3757041" cy="578936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204" y="938022"/>
            <a:ext cx="3448319" cy="11887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600">
                <a:solidFill>
                  <a:schemeClr val="tx1"/>
                </a:solidFill>
              </a:rPr>
              <a:t>1960s: Hierarchical &amp; Network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55204" y="2340864"/>
            <a:ext cx="3448319" cy="3793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/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/>
              <a:t>• Đặc trưng: dữ liệu lưu dạng cây hoặc mạng, dùng con trỏ.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/>
              <a:t>• Ví dụ: IBM IMS (Hierarchical), IDS (Network).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/>
              <a:t>• Ứng dụng: NASA Apollo, hệ thống đặt vé.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/>
              <a:t>• Hạn chế: cứng nhắc, khó thay đổi.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3F09C6-4F57-4B05-9592-E253D8BC6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214" y="614407"/>
            <a:ext cx="8482004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6F6DB7-CF8D-494A-82F6-13B58DCA9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7E5194-6E82-4A44-99C3-FE7D87F3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1782" y="614407"/>
            <a:ext cx="2780608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082" y="826346"/>
            <a:ext cx="2378929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100">
                <a:solidFill>
                  <a:srgbClr val="FFFFFF"/>
                </a:solidFill>
              </a:rPr>
              <a:t>1970s: Relational Model &amp; SQL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9FCC1E1-84D3-494D-A0A0-286AFA1C3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4900" y="453643"/>
            <a:ext cx="8474200" cy="98554"/>
            <a:chOff x="446534" y="453643"/>
            <a:chExt cx="11298933" cy="9855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6E09E90-FF79-402E-AF01-97A279BEA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C6946F8-4B9B-4C51-9F51-2DB377392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B3D2B3D-A285-438C-A344-AED3E46A0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573082" y="2052084"/>
            <a:ext cx="2274937" cy="3856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 sz="1400">
              <a:solidFill>
                <a:srgbClr val="FFFFFF"/>
              </a:solidFill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400">
                <a:solidFill>
                  <a:srgbClr val="FFFFFF"/>
                </a:solidFill>
              </a:rPr>
              <a:t>• Đặc trưng: dữ liệu lưu trong bảng (quan hệ).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400">
                <a:solidFill>
                  <a:srgbClr val="FFFFFF"/>
                </a:solidFill>
              </a:rPr>
              <a:t>• Ngôn ngữ: SQL (System R của IBM).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400">
                <a:solidFill>
                  <a:srgbClr val="FFFFFF"/>
                </a:solidFill>
              </a:rPr>
              <a:t>• Ví dụ: Ingres, IBM System R.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400">
                <a:solidFill>
                  <a:srgbClr val="FFFFFF"/>
                </a:solidFill>
              </a:rPr>
              <a:t>• Ưu điểm: dễ truy vấn, ít dư thừa.</a:t>
            </a:r>
          </a:p>
        </p:txBody>
      </p:sp>
      <p:pic>
        <p:nvPicPr>
          <p:cNvPr id="3" name="Picture 2" descr="db_1970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600" y="2153768"/>
            <a:ext cx="5149879" cy="254919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3F09C6-4F57-4B05-9592-E253D8BC6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214" y="614407"/>
            <a:ext cx="8482004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C97474-5879-4DB5-B4F3-F0357104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31CBB7-4817-4B54-A7F9-0AE2D0C47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0271" y="457200"/>
            <a:ext cx="3758184" cy="9144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" name="Picture 2" descr="db_1980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77" y="1829845"/>
            <a:ext cx="4107281" cy="339877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6BC321D-B05F-4857-8880-97F61B9B7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0843" y="601200"/>
            <a:ext cx="3757041" cy="578936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204" y="938022"/>
            <a:ext cx="3448319" cy="11887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1980s: Commercial RDBMS &amp; ACID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55204" y="2340864"/>
            <a:ext cx="3448319" cy="3793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/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/>
              <a:t>• Thương mại hóa: Oracle (1979), IBM DB2, SQL Server.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/>
              <a:t>• Đặc trưng: giao dịch theo chuẩn ACID.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/>
              <a:t>• Ứng dụng: ngân hàng, bảo hiểm, doanh nghiệp.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/>
              <a:t>• Ý nghĩa: nền tảng chuẩn trong quản lý dữ liệu.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3F09C6-4F57-4B05-9592-E253D8BC6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214" y="614407"/>
            <a:ext cx="8482004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9A26B8-6C4E-452B-ADD3-ED324A7AB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4167E1-E2B0-4192-8DA2-6967DDFF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1782" y="614407"/>
            <a:ext cx="4207476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90" y="960723"/>
            <a:ext cx="3726367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>
                <a:solidFill>
                  <a:srgbClr val="FFFFFF"/>
                </a:solidFill>
              </a:rPr>
              <a:t>1990s: Object-Oriented &amp; Distributed DB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3E4FEE-2E6A-44AB-B6BA-C1AD0CD6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4204358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17EB59-13B3-43DA-9B91-A7CC174A6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8238" y="457200"/>
            <a:ext cx="4200005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87540" y="2254102"/>
            <a:ext cx="3710416" cy="3650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>
              <a:solidFill>
                <a:srgbClr val="FFFFFF"/>
              </a:solidFill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>
                <a:solidFill>
                  <a:srgbClr val="FFFFFF"/>
                </a:solidFill>
              </a:rPr>
              <a:t>• Xuất hiện OODBMS và ORDBMS (PostgreSQL).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>
                <a:solidFill>
                  <a:srgbClr val="FFFFFF"/>
                </a:solidFill>
              </a:rPr>
              <a:t>• Kết hợp hướng đối tượng + quan hệ.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>
                <a:solidFill>
                  <a:srgbClr val="FFFFFF"/>
                </a:solidFill>
              </a:rPr>
              <a:t>• CSDL phân tán: dữ liệu trên nhiều nút.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>
                <a:solidFill>
                  <a:srgbClr val="FFFFFF"/>
                </a:solidFill>
              </a:rPr>
              <a:t>• Ví dụ: SABRE (đặt vé máy bay).</a:t>
            </a:r>
          </a:p>
        </p:txBody>
      </p:sp>
      <p:pic>
        <p:nvPicPr>
          <p:cNvPr id="3" name="Picture 2" descr="db_1990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960723"/>
            <a:ext cx="3044951" cy="568834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3F09C6-4F57-4B05-9592-E253D8BC6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214" y="614407"/>
            <a:ext cx="8482004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C97474-5879-4DB5-B4F3-F0357104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31CBB7-4817-4B54-A7F9-0AE2D0C47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0271" y="457200"/>
            <a:ext cx="3758184" cy="9144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" name="Picture 2" descr="db_2000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77" y="1809309"/>
            <a:ext cx="4107281" cy="343984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6BC321D-B05F-4857-8880-97F61B9B7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0843" y="601200"/>
            <a:ext cx="3757041" cy="578936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204" y="938022"/>
            <a:ext cx="3448319" cy="11887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2000s: NoSQL &amp; Big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55204" y="2340864"/>
            <a:ext cx="3448319" cy="3793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/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/>
              <a:t>• NoSQL: key-value, document, column, graph.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/>
              <a:t>• Xử lý dữ liệu phi cấu trúc, quy mô lớn.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/>
              <a:t>• Ví dụ: MongoDB, Cassandra, Redis, Neo4j.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/>
              <a:t>• Ứng dụng: mạng xã hội, thương mại điện tử.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3F09C6-4F57-4B05-9592-E253D8BC6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214" y="614407"/>
            <a:ext cx="8482004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9A26B8-6C4E-452B-ADD3-ED324A7AB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4167E1-E2B0-4192-8DA2-6967DDFF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1782" y="614407"/>
            <a:ext cx="4207476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90" y="960723"/>
            <a:ext cx="3726367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2010s: Cloud DB &amp; NewSQL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3E4FEE-2E6A-44AB-B6BA-C1AD0CD6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4204358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17EB59-13B3-43DA-9B91-A7CC174A6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8238" y="457200"/>
            <a:ext cx="4200005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87540" y="2254102"/>
            <a:ext cx="3710416" cy="3650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>
              <a:solidFill>
                <a:srgbClr val="FFFFFF"/>
              </a:solidFill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>
                <a:solidFill>
                  <a:srgbClr val="FFFFFF"/>
                </a:solidFill>
              </a:rPr>
              <a:t>• Điện toán đám mây: Amazon RDS, Google Spanner.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>
                <a:solidFill>
                  <a:srgbClr val="FFFFFF"/>
                </a:solidFill>
              </a:rPr>
              <a:t>• NewSQL: CockroachDB, VoltDB.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>
                <a:solidFill>
                  <a:srgbClr val="FFFFFF"/>
                </a:solidFill>
              </a:rPr>
              <a:t>• Đặc trưng: mở rộng ngang, vẫn giữ ACID.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>
                <a:solidFill>
                  <a:srgbClr val="FFFFFF"/>
                </a:solidFill>
              </a:rPr>
              <a:t>• Ứng dụng: Spotify, Netflix, Uber.</a:t>
            </a:r>
          </a:p>
        </p:txBody>
      </p:sp>
      <p:pic>
        <p:nvPicPr>
          <p:cNvPr id="3" name="Picture 2" descr="db_2010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063" y="2068525"/>
            <a:ext cx="3714356" cy="2730051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3F09C6-4F57-4B05-9592-E253D8BC6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214" y="614407"/>
            <a:ext cx="8482004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C97474-5879-4DB5-B4F3-F0357104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31CBB7-4817-4B54-A7F9-0AE2D0C47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0271" y="457200"/>
            <a:ext cx="3758184" cy="9144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" name="Picture 2" descr="db_2020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77" y="2302183"/>
            <a:ext cx="4107281" cy="245409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6BC321D-B05F-4857-8880-97F61B9B7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0843" y="601200"/>
            <a:ext cx="3757041" cy="578936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204" y="938022"/>
            <a:ext cx="3448319" cy="11887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2020+: Multimodel, Data Lake,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55204" y="2340864"/>
            <a:ext cx="3448319" cy="3793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/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/>
              <a:t>• Multimodel DB: ArangoDB, OrientDB.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/>
              <a:t>• Data Lakehouse: Databricks Delta Lake.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/>
              <a:t>• AI/ML tích hợp: BigQuery ML, Oracle AI.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/>
              <a:t>• Xu hướng: realtime, bảo mật, phân tán toàn cầu.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93146F-62ED-4C59-844C-0935D0FB5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085765"/>
            <a:ext cx="8447150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3" y="4610099"/>
            <a:ext cx="8245162" cy="1066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FFFFFF"/>
                </a:solidFill>
              </a:rPr>
              <a:t>Timeline phát triển Cơ sở dữ liệu (1960s → 2020+)</a:t>
            </a:r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1A515B1-A9B3-49B0-AE0D-D038D42C2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9144000" cy="37081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db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12" y="723899"/>
            <a:ext cx="7587575" cy="35661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Edgar F. Codd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828800"/>
            <a:ext cx="5444119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lang="en-US"/>
              <a:t>•</a:t>
            </a:r>
            <a:r>
              <a:rPr lang="vi-VN"/>
              <a:t> 19/8/1923-28/4/2003</a:t>
            </a:r>
          </a:p>
          <a:p>
            <a:r>
              <a:t>• Cha đẻ của mô hình quan hệ (Relational Model).</a:t>
            </a:r>
          </a:p>
          <a:p>
            <a:r>
              <a:t>• Công bố bài báo 'A Relational Model of Data...' (1970).</a:t>
            </a:r>
          </a:p>
          <a:p>
            <a:r>
              <a:t>• Làm việc tại IBM, đặt nền móng cho SQL và RDBMS.</a:t>
            </a:r>
          </a:p>
        </p:txBody>
      </p:sp>
      <p:sp>
        <p:nvSpPr>
          <p:cNvPr id="7" name="AutoShape 6" descr="Edgar F. Codd | IBM">
            <a:extLst>
              <a:ext uri="{FF2B5EF4-FFF2-40B4-BE49-F238E27FC236}">
                <a16:creationId xmlns:a16="http://schemas.microsoft.com/office/drawing/2014/main" id="{268D6538-6924-D263-423B-4BAE48B739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23C6BE-D0F4-C1B7-7E24-84AC04097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2255901"/>
            <a:ext cx="3333750" cy="3333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Charles W. Bachman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828800"/>
            <a:ext cx="4557851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t>•</a:t>
            </a:r>
            <a:r>
              <a:rPr lang="vi-VN"/>
              <a:t> 11/12/1924-13/7/2017</a:t>
            </a:r>
            <a:r>
              <a:t> </a:t>
            </a:r>
            <a:endParaRPr lang="vi-VN"/>
          </a:p>
          <a:p>
            <a:r>
              <a:rPr lang="en-US"/>
              <a:t>• </a:t>
            </a:r>
            <a:r>
              <a:t>Cha đẻ của mô hình mạng (Network Model).</a:t>
            </a:r>
          </a:p>
          <a:p>
            <a:r>
              <a:t>• Phát triển IDS (Integrated Data Store).</a:t>
            </a:r>
          </a:p>
          <a:p>
            <a:r>
              <a:t>• Giải Turing Award năm 1973.</a:t>
            </a:r>
          </a:p>
        </p:txBody>
      </p:sp>
      <p:pic>
        <p:nvPicPr>
          <p:cNvPr id="2050" name="Picture 2" descr="Charles W. Bachman, Business Software Innovator, Dies at 92 - The New York  Times">
            <a:extLst>
              <a:ext uri="{FF2B5EF4-FFF2-40B4-BE49-F238E27FC236}">
                <a16:creationId xmlns:a16="http://schemas.microsoft.com/office/drawing/2014/main" id="{622352DE-7A78-D1CF-4AE0-63C86035D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167" y="2366201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Michael Stonebraker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8288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t>• Tiên phong trong phát triển hệ quản trị CSDL.</a:t>
            </a:r>
          </a:p>
          <a:p>
            <a:r>
              <a:t>• Đồng sáng lập Ingres và Postgres (tiền thân PostgreSQL).</a:t>
            </a:r>
          </a:p>
          <a:p>
            <a:r>
              <a:t>• Giải Turing Award năm 2014.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F8E68D-DA12-2666-64DD-9C075AB8D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657" y="2307812"/>
            <a:ext cx="1842344" cy="22423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Donald D. Chamberlin &amp; Raymond F. Boyce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Chèn ảnh ở đây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58184" y="1929384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t>• Kỹ sư IBM, đồng sáng tạo ngôn ngữ SEQUEL (SQL).</a:t>
            </a:r>
          </a:p>
          <a:p>
            <a:r>
              <a:t>• SQL trở thành ngôn ngữ chuẩn toàn cầu cho RDBMS.</a:t>
            </a:r>
          </a:p>
          <a:p>
            <a:r>
              <a:t>• Đóng góp trực tiếp vào dự án System R.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6AD741C-1FFF-904F-7170-608C22164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19" y="2338769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63D6087D-0D81-8272-0D98-DE69F0ECB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530" y="3818458"/>
            <a:ext cx="1743075" cy="2377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Jim Gray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8288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t>• Đóng góp lớn trong lĩnh vực giao dịch và CSDL phân tán.</a:t>
            </a:r>
          </a:p>
          <a:p>
            <a:r>
              <a:t>• Nghiên cứu khả năng chịu lỗi, phục hồi trong DBMS.</a:t>
            </a:r>
          </a:p>
          <a:p>
            <a:r>
              <a:t>• Giải Turing Award năm 1998.</a:t>
            </a:r>
          </a:p>
        </p:txBody>
      </p:sp>
      <p:pic>
        <p:nvPicPr>
          <p:cNvPr id="5122" name="Picture 2" descr="Jim Gray (@JimGrayOfficial) / X">
            <a:extLst>
              <a:ext uri="{FF2B5EF4-FFF2-40B4-BE49-F238E27FC236}">
                <a16:creationId xmlns:a16="http://schemas.microsoft.com/office/drawing/2014/main" id="{1C48EDE9-FBF5-D2F0-4919-D62A80B6E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551176"/>
            <a:ext cx="3066288" cy="3066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Hector Garcia-Molina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8288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t>• Giáo sư Stanford, nghiên cứu CSDL phân tán.</a:t>
            </a:r>
          </a:p>
          <a:p>
            <a:r>
              <a:t>• Tiên phong trong hệ thống dữ liệu quy mô Web.</a:t>
            </a:r>
          </a:p>
          <a:p>
            <a:r>
              <a:t>• Đồng tác giả nhiều giáo trình nổi tiếng về DBMS.</a:t>
            </a:r>
          </a:p>
        </p:txBody>
      </p:sp>
      <p:pic>
        <p:nvPicPr>
          <p:cNvPr id="6148" name="Picture 4" descr="Podomatic | Hector Garcia-Molina: Stanford Computer Science Professor and  Advisor to the Google Founders">
            <a:extLst>
              <a:ext uri="{FF2B5EF4-FFF2-40B4-BE49-F238E27FC236}">
                <a16:creationId xmlns:a16="http://schemas.microsoft.com/office/drawing/2014/main" id="{8B99A2B8-AF26-9EDD-4591-48F657408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8428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22</TotalTime>
  <Words>626</Words>
  <Application>Microsoft Office PowerPoint</Application>
  <PresentationFormat>On-screen Show (4:3)</PresentationFormat>
  <Paragraphs>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Gill Sans MT</vt:lpstr>
      <vt:lpstr>Wingdings 2</vt:lpstr>
      <vt:lpstr>Dividend</vt:lpstr>
      <vt:lpstr>Lịch sử phát triển của Cơ sở dữ liệu</vt:lpstr>
      <vt:lpstr>1960s: Hierarchical &amp; Network DB</vt:lpstr>
      <vt:lpstr>1970s: Relational Model &amp; SQL</vt:lpstr>
      <vt:lpstr>1980s: Commercial RDBMS &amp; ACID</vt:lpstr>
      <vt:lpstr>1990s: Object-Oriented &amp; Distributed DB</vt:lpstr>
      <vt:lpstr>2000s: NoSQL &amp; Big Data</vt:lpstr>
      <vt:lpstr>2010s: Cloud DB &amp; NewSQL</vt:lpstr>
      <vt:lpstr>2020+: Multimodel, Data Lake, AI</vt:lpstr>
      <vt:lpstr>Timeline phát triển Cơ sở dữ liệu (1960s → 2020+)</vt:lpstr>
      <vt:lpstr>Edgar F. Codd</vt:lpstr>
      <vt:lpstr>Charles W. Bachman</vt:lpstr>
      <vt:lpstr>Michael Stonebraker</vt:lpstr>
      <vt:lpstr>Donald D. Chamberlin &amp; Raymond F. Boyce</vt:lpstr>
      <vt:lpstr>Jim Gray</vt:lpstr>
      <vt:lpstr>Hector Garcia-Molina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Mai Văn Cường</cp:lastModifiedBy>
  <cp:revision>3</cp:revision>
  <dcterms:created xsi:type="dcterms:W3CDTF">2013-01-27T09:14:16Z</dcterms:created>
  <dcterms:modified xsi:type="dcterms:W3CDTF">2025-09-15T22:41:32Z</dcterms:modified>
  <cp:category/>
</cp:coreProperties>
</file>